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305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0CA84B-56F4-F5CA-93E1-0CEE7ECDF6E9}" v="9" dt="2024-10-22T01:47:28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8D32C85-4F9D-A39B-AF98-0797A5E8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88" y="1680"/>
            <a:ext cx="12212170" cy="685463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0B41734-CDB0-29CC-3B77-4AC74E8E5349}"/>
              </a:ext>
            </a:extLst>
          </p:cNvPr>
          <p:cNvSpPr txBox="1"/>
          <p:nvPr/>
        </p:nvSpPr>
        <p:spPr>
          <a:xfrm>
            <a:off x="-183079" y="2837933"/>
            <a:ext cx="1106860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8000" dirty="0">
                <a:solidFill>
                  <a:srgbClr val="FFC000"/>
                </a:solidFill>
                <a:ea typeface="Calibri"/>
                <a:cs typeface="Calibri"/>
              </a:rPr>
              <a:t> API e WEB API</a:t>
            </a:r>
          </a:p>
        </p:txBody>
      </p:sp>
      <p:sp>
        <p:nvSpPr>
          <p:cNvPr id="30" name="CustomShape 8">
            <a:extLst>
              <a:ext uri="{FF2B5EF4-FFF2-40B4-BE49-F238E27FC236}">
                <a16:creationId xmlns:a16="http://schemas.microsoft.com/office/drawing/2014/main" id="{83E22F3D-8914-1633-4D1D-D411D9ECF178}"/>
              </a:ext>
            </a:extLst>
          </p:cNvPr>
          <p:cNvSpPr/>
          <p:nvPr/>
        </p:nvSpPr>
        <p:spPr>
          <a:xfrm>
            <a:off x="7872219" y="6270199"/>
            <a:ext cx="3739680" cy="21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5000"/>
              </a:lnSpc>
              <a:tabLst>
                <a:tab pos="0" algn="l"/>
              </a:tabLst>
            </a:pPr>
            <a:r>
              <a:rPr lang="pt-BR" sz="900" b="0" strike="noStrike" spc="-1">
                <a:solidFill>
                  <a:srgbClr val="646363"/>
                </a:solidFill>
                <a:latin typeface="Lato"/>
                <a:ea typeface="Lato"/>
              </a:rPr>
              <a:t>JAVASCRIPT IMPRESSIONADOR  I  HASHTAG PROGRAMAÇÃO </a:t>
            </a:r>
            <a:endParaRPr lang="pt-BR" sz="900" b="0" strike="noStrike" spc="-1">
              <a:latin typeface="Arial"/>
            </a:endParaRPr>
          </a:p>
        </p:txBody>
      </p:sp>
      <p:pic>
        <p:nvPicPr>
          <p:cNvPr id="31" name="Google Shape;968;p44">
            <a:extLst>
              <a:ext uri="{FF2B5EF4-FFF2-40B4-BE49-F238E27FC236}">
                <a16:creationId xmlns:a16="http://schemas.microsoft.com/office/drawing/2014/main" id="{497323E2-B720-510F-DAC3-D0F15803E56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83419" y="6204679"/>
            <a:ext cx="326520" cy="326520"/>
          </a:xfrm>
          <a:prstGeom prst="rect">
            <a:avLst/>
          </a:prstGeom>
          <a:ln>
            <a:noFill/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D8602B9B-76FB-C529-BEF7-748FBB694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3424238"/>
            <a:ext cx="19050" cy="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6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EDD37-12E8-D403-284D-804AAF71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58E849C-E106-5F23-A7E8-FB5E58650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82" y="1680"/>
            <a:ext cx="12212170" cy="6854639"/>
          </a:xfrm>
          <a:prstGeom prst="rect">
            <a:avLst/>
          </a:prstGeom>
        </p:spPr>
      </p:pic>
      <p:sp>
        <p:nvSpPr>
          <p:cNvPr id="30" name="CustomShape 8">
            <a:extLst>
              <a:ext uri="{FF2B5EF4-FFF2-40B4-BE49-F238E27FC236}">
                <a16:creationId xmlns:a16="http://schemas.microsoft.com/office/drawing/2014/main" id="{AF94E591-96A6-80FA-7E0F-E74C6724EC61}"/>
              </a:ext>
            </a:extLst>
          </p:cNvPr>
          <p:cNvSpPr/>
          <p:nvPr/>
        </p:nvSpPr>
        <p:spPr>
          <a:xfrm>
            <a:off x="7872219" y="6270199"/>
            <a:ext cx="3739680" cy="21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5000"/>
              </a:lnSpc>
              <a:tabLst>
                <a:tab pos="0" algn="l"/>
              </a:tabLst>
            </a:pPr>
            <a:r>
              <a:rPr lang="pt-BR" sz="900" b="0" strike="noStrike" spc="-1">
                <a:solidFill>
                  <a:srgbClr val="646363"/>
                </a:solidFill>
                <a:latin typeface="Lato"/>
                <a:ea typeface="Lato"/>
              </a:rPr>
              <a:t>JAVASCRIPT IMPRESSIONADOR  I  HASHTAG PROGRAMAÇÃO </a:t>
            </a:r>
            <a:endParaRPr lang="pt-BR" sz="900" b="0" strike="noStrike" spc="-1">
              <a:latin typeface="Arial"/>
            </a:endParaRPr>
          </a:p>
        </p:txBody>
      </p:sp>
      <p:pic>
        <p:nvPicPr>
          <p:cNvPr id="31" name="Google Shape;968;p44">
            <a:extLst>
              <a:ext uri="{FF2B5EF4-FFF2-40B4-BE49-F238E27FC236}">
                <a16:creationId xmlns:a16="http://schemas.microsoft.com/office/drawing/2014/main" id="{56FFAE45-8246-1316-62FD-3F325A44535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83419" y="6204679"/>
            <a:ext cx="326520" cy="326520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176A2CC-1520-7522-B3A8-C7CD0B53EB58}"/>
              </a:ext>
            </a:extLst>
          </p:cNvPr>
          <p:cNvSpPr txBox="1"/>
          <p:nvPr/>
        </p:nvSpPr>
        <p:spPr>
          <a:xfrm>
            <a:off x="973316" y="784698"/>
            <a:ext cx="10760448" cy="62016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500" b="1" dirty="0">
                <a:solidFill>
                  <a:srgbClr val="FFC000"/>
                </a:solidFill>
                <a:ea typeface="Calibri"/>
                <a:cs typeface="Calibri"/>
              </a:rPr>
              <a:t>O que é API e Web API?</a:t>
            </a:r>
          </a:p>
          <a:p>
            <a:endParaRPr lang="pt-BR" sz="2000" b="1" dirty="0">
              <a:solidFill>
                <a:srgbClr val="FFC000"/>
              </a:solidFill>
              <a:ea typeface="Calibri"/>
              <a:cs typeface="Calibri"/>
            </a:endParaRPr>
          </a:p>
          <a:p>
            <a:r>
              <a:rPr lang="pt-BR" sz="2000" b="1" dirty="0">
                <a:solidFill>
                  <a:srgbClr val="0D0D0D"/>
                </a:solidFill>
                <a:ea typeface="+mn-lt"/>
                <a:cs typeface="+mn-lt"/>
              </a:rPr>
              <a:t>API (Interface de Programação de Aplicações):</a:t>
            </a:r>
            <a:r>
              <a:rPr lang="pt-BR" sz="2000" dirty="0">
                <a:solidFill>
                  <a:srgbClr val="0D0D0D"/>
                </a:solidFill>
                <a:ea typeface="+mn-lt"/>
                <a:cs typeface="+mn-lt"/>
              </a:rPr>
              <a:t> Uma API (Interface de Programação de Aplicações) é um conjunto de regras e definições que permitem que diferentes programas de computador se comuniquem uns com os outros.</a:t>
            </a:r>
            <a:endParaRPr lang="pt-BR" sz="2000" dirty="0"/>
          </a:p>
          <a:p>
            <a:endParaRPr lang="pt-BR" sz="2000" dirty="0">
              <a:solidFill>
                <a:srgbClr val="0D0D0D"/>
              </a:solidFill>
              <a:ea typeface="+mn-lt"/>
              <a:cs typeface="+mn-lt"/>
            </a:endParaRPr>
          </a:p>
          <a:p>
            <a:r>
              <a:rPr lang="pt-BR" sz="2000" dirty="0">
                <a:solidFill>
                  <a:srgbClr val="0D0D0D"/>
                </a:solidFill>
                <a:ea typeface="+mn-lt"/>
                <a:cs typeface="+mn-lt"/>
              </a:rPr>
              <a:t>Uma </a:t>
            </a:r>
            <a:r>
              <a:rPr lang="pt-BR" sz="2000" b="1" dirty="0">
                <a:solidFill>
                  <a:srgbClr val="0D0D0D"/>
                </a:solidFill>
                <a:ea typeface="+mn-lt"/>
                <a:cs typeface="+mn-lt"/>
              </a:rPr>
              <a:t>Web API</a:t>
            </a:r>
            <a:r>
              <a:rPr lang="pt-BR" sz="2000" dirty="0">
                <a:solidFill>
                  <a:srgbClr val="0D0D0D"/>
                </a:solidFill>
                <a:ea typeface="+mn-lt"/>
                <a:cs typeface="+mn-lt"/>
              </a:rPr>
              <a:t> é uma API que utiliza a internet como meio de comunicação.</a:t>
            </a:r>
          </a:p>
          <a:p>
            <a:endParaRPr lang="pt-BR" sz="2000" dirty="0">
              <a:solidFill>
                <a:srgbClr val="0D0D0D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pt-BR" sz="2000" dirty="0">
                <a:solidFill>
                  <a:srgbClr val="0D0D0D"/>
                </a:solidFill>
                <a:ea typeface="+mn-lt"/>
                <a:cs typeface="+mn-lt"/>
              </a:rPr>
              <a:t>Solicitações HTTP (Hypertext </a:t>
            </a:r>
            <a:r>
              <a:rPr lang="pt-BR" sz="2000" dirty="0" err="1">
                <a:solidFill>
                  <a:srgbClr val="0D0D0D"/>
                </a:solidFill>
                <a:ea typeface="+mn-lt"/>
                <a:cs typeface="+mn-lt"/>
              </a:rPr>
              <a:t>Transfer</a:t>
            </a:r>
            <a:r>
              <a:rPr lang="pt-BR" sz="2000" dirty="0">
                <a:solidFill>
                  <a:srgbClr val="0D0D0D"/>
                </a:solidFill>
                <a:ea typeface="+mn-lt"/>
                <a:cs typeface="+mn-lt"/>
              </a:rPr>
              <a:t> </a:t>
            </a:r>
            <a:r>
              <a:rPr lang="pt-BR" sz="2000" dirty="0" err="1">
                <a:solidFill>
                  <a:srgbClr val="0D0D0D"/>
                </a:solidFill>
                <a:ea typeface="+mn-lt"/>
                <a:cs typeface="+mn-lt"/>
              </a:rPr>
              <a:t>Protocol</a:t>
            </a:r>
            <a:r>
              <a:rPr lang="pt-BR" sz="2000" dirty="0">
                <a:solidFill>
                  <a:srgbClr val="0D0D0D"/>
                </a:solidFill>
                <a:ea typeface="+mn-lt"/>
                <a:cs typeface="+mn-lt"/>
              </a:rPr>
              <a:t>), que são protocolos usados para transferir dados na web.</a:t>
            </a:r>
          </a:p>
          <a:p>
            <a:pPr>
              <a:buFont typeface="Calibri"/>
              <a:buChar char="-"/>
            </a:pPr>
            <a:endParaRPr lang="pt-BR" sz="2000" dirty="0">
              <a:solidFill>
                <a:srgbClr val="0D0D0D"/>
              </a:solidFill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571500" indent="-571500">
              <a:buFont typeface="Calibri"/>
              <a:buChar char="-"/>
            </a:pPr>
            <a:endParaRPr lang="pt-BR" sz="4400" b="1">
              <a:solidFill>
                <a:srgbClr val="FFC000"/>
              </a:solidFill>
              <a:ea typeface="Calibri"/>
              <a:cs typeface="Calibri"/>
            </a:endParaRPr>
          </a:p>
          <a:p>
            <a:pPr>
              <a:buFont typeface="Calibri"/>
              <a:buChar char="-"/>
            </a:pPr>
            <a:endParaRPr lang="pt-BR" sz="2500" b="1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pt-BR" sz="2500" b="1">
              <a:ea typeface="Calibri"/>
              <a:cs typeface="Calibri" panose="020F0502020204030204"/>
            </a:endParaRPr>
          </a:p>
          <a:p>
            <a:endParaRPr lang="pt-BR" sz="2500" b="1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 sz="2500" b="1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631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2024-10-22T01:37:49Z</dcterms:created>
  <dcterms:modified xsi:type="dcterms:W3CDTF">2024-10-22T01:47:33Z</dcterms:modified>
</cp:coreProperties>
</file>